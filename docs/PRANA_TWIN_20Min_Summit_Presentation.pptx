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[00:00 - 01:15]</a:t>
            </a:r>
          </a:p>
          <a:p>
            <a:r>
              <a:t>SLIDE 1: Title &amp; Team Introduction</a:t>
            </a:r>
          </a:p>
          <a:p/>
          <a:p>
            <a:r>
              <a:t>SPEAKER SCRIPT:</a:t>
            </a:r>
          </a:p>
          <a:p>
            <a:r>
              <a:t>"Respected jury members, clinical experts, and healthcare innovators. Welcome to our official prototype demonstration for the Happiest Health Reimagining and Reforming Healthcare in India Summit 2026 here in Bengaluru.</a:t>
            </a:r>
          </a:p>
          <a:p/>
          <a:p>
            <a:r>
              <a:t>Our project is titled PRANA-TWIN: A Cardio-Metabolic Clinical Digital Twin designed specifically for Indian healthcare, addressing the massive challenge of adverse glycemic prediction and counterfactual clinical simulation.</a:t>
            </a:r>
          </a:p>
          <a:p/>
          <a:p>
            <a:r>
              <a:t>We are Team Coders_ABES, incubated at the ABES Innovation and Incubation Center at ABES Engineering College, Ghaziabad. My name is Rohit Kumar, and I am the Team Leader, pursuing MCA final year with an AIML specialization. I am joined by my esteemed teammates: Arush Dixit, Anand Rai, and Naman Goel, specializing in Artificial Intelligence and Machine Learning.</a:t>
            </a:r>
          </a:p>
          <a:p/>
          <a:p>
            <a:r>
              <a:t>Over the next 20 to 25 minutes, we will walk you through the severe chronic diabetes epidemic in India, the mathematical and machine learning foundation of our physiological digital twin, our clinical benchmark validations, and an end-to-end live demonstration of our doctor dashboard prototype. Let us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[01:15 - 03:00]</a:t>
            </a:r>
          </a:p>
          <a:p>
            <a:r>
              <a:t>SLIDE 2: Problem Statement</a:t>
            </a:r>
          </a:p>
          <a:p/>
          <a:p>
            <a:r>
              <a:t>SPEAKER SCRIPT:</a:t>
            </a:r>
          </a:p>
          <a:p>
            <a:r>
              <a:t>"To truly understand why PRANA-TWIN is necessary, we must examine the harsh epidemiological realities of diabetes in India.</a:t>
            </a:r>
          </a:p>
          <a:p/>
          <a:p>
            <a:r>
              <a:t>According to the landmark ICMR-INDIAB national study, India has crossed over 101 million diagnosed individuals living with Type 2 Diabetes, with an astounding 136 million citizens in the pre-diabetic stage. India has earned the unfortunate title of the diabetes capital of the world.</a:t>
            </a:r>
          </a:p>
          <a:p/>
          <a:p>
            <a:r>
              <a:t>However, Indian diabetology cannot be solved with Western clinical models. In South Asians, we observe what diabetologists call the 'Asian-Indian Phenotype', also known as the 'Thin-Fat Paradox'. Indian patients exhibit significantly higher visceral adiposity, increased hepatic fat accumulation, and profound skeletal insulin resistance even at a standard or low Body Mass Index—which is why ICMR established lower BMI cutoffs of 23 kg/m² for Indians.</a:t>
            </a:r>
          </a:p>
          <a:p/>
          <a:p>
            <a:r>
              <a:t>Furthermore, Indian diets are overwhelmingly carbohydrate-heavy. Daily staples of refined white rice, wheat parathas, and high-glycemic staples trigger acute postprandial glycemic excursions exceeding 240 mg/dL. These post-meal spikes directly damage the vascular endothelium.</a:t>
            </a:r>
          </a:p>
          <a:p/>
          <a:p>
            <a:r>
              <a:t>Even more perilous is nocturnal hypoglycemia. Millions of elderly or fasting Indian patients are prescribed sulfonylureas like Glimepiride. When meals are skipped or delayed, nocturnal glucose crashes below 70 mg/dL occur silently during sleep, causing fatal cardiac arrhythmias and brain trauma. This is the crisis we are solving."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[03:00 - 04:30]</a:t>
            </a:r>
          </a:p>
          <a:p>
            <a:r>
              <a:t>SLIDE 3: The Solution</a:t>
            </a:r>
          </a:p>
          <a:p/>
          <a:p>
            <a:r>
              <a:t>SPEAKER SCRIPT:</a:t>
            </a:r>
          </a:p>
          <a:p>
            <a:r>
              <a:t>"Why has conventional healthcare failed to contain this epidemic? Because traditional healthcare is inherently reactive.</a:t>
            </a:r>
          </a:p>
          <a:p/>
          <a:p>
            <a:r>
              <a:t>A patient visits a clinic once every 3 to 6 months for an HbA1c test. That single number is a blunt 90-day average that conceals daily glycemic volatility. Even modern Continuous Glucose Monitors only buzz an alarm after the threshold has already been breached—when the patient is already trembling in hypoglycemia or suffering hyperosmolar stress.</a:t>
            </a:r>
          </a:p>
          <a:p/>
          <a:p>
            <a:r>
              <a:t>PRANA-TWIN fundamentally transforms this paradigm from reactive crisis management into proactive, predictive digital health.</a:t>
            </a:r>
          </a:p>
          <a:p/>
          <a:p>
            <a:r>
              <a:t>PRANA-TWIN is a true Clinical Digital Twin. It builds a virtual, computational twin of the patient's metabolic state by fusing two streams: their static Electronic Health Record—such as baseline HbA1c, renal filtration eGFR, and prescriptions—with their continuous 5-minute dynamic wearable streams from CGM, heart rate, and movement.</a:t>
            </a:r>
          </a:p>
          <a:p/>
          <a:p>
            <a:r>
              <a:t>By doing so, PRANA-TWIN does not wait for a crisis. It forecasts glycemic trajectories two hours in advance with a 90% confidence band and provides doctors with a counterfactual 'What-If' simulation sandbox to test diet, exercise, and drug changes on the virtual twin before executing them in real life."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[04:30 - 06:00]</a:t>
            </a:r>
          </a:p>
          <a:p>
            <a:r>
              <a:t>SLIDE 4: Multi-Stream Data Ingestion</a:t>
            </a:r>
          </a:p>
          <a:p/>
          <a:p>
            <a:r>
              <a:t>SPEAKER SCRIPT:</a:t>
            </a:r>
          </a:p>
          <a:p>
            <a:r>
              <a:t>"Let us examine Layer 1 of our architecture: the Multi-Stream Data Ingestion pipeline.</a:t>
            </a:r>
          </a:p>
          <a:p/>
          <a:p>
            <a:r>
              <a:t>One of the core requirements of this challenge was the seamless fusion of two distinct data streams. In PRANA-TWIN, we achieve this with mathematical rigor.</a:t>
            </a:r>
          </a:p>
          <a:p/>
          <a:p>
            <a:r>
              <a:t>The first stream is the Static Electronic Health Record, or EHR. This contains foundational patient characteristics: their baseline HbA1c, their renal function measured via estimated Glomerular Filtration Rate (eGFR), lipid panels, microalbuminuria status, and active prescriptions like Metformin, Sulfonylureas, or SGLT2 inhibitors.</a:t>
            </a:r>
          </a:p>
          <a:p/>
          <a:p>
            <a:r>
              <a:t>The second stream is the Dynamic Wearable IoT stream, ingested in 5-minute epochs. This includes continuous interstitial glucose from CGMs, optical photoplethysmography (PPG) heart rate, autonomic heart rate variability (specifically RMSSD), and 3-axis accelerometer movement.</a:t>
            </a:r>
          </a:p>
          <a:p/>
          <a:p>
            <a:r>
              <a:t>Our data ingestion layer cleans, interpolates, and temporally aligns these disparate frequencies. For instance, while EHR labs update every few months, wearable telemetry arrives every 300 seconds. Our pipeline establishes unified temporal feature tensors that reflect both chronic metabolic reserves and acute real-time physiological perturbations."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[06:00 - 08:00]</a:t>
            </a:r>
          </a:p>
          <a:p>
            <a:r>
              <a:t>SLIDE 5: Physiological Compartmental ODE Modeling</a:t>
            </a:r>
          </a:p>
          <a:p/>
          <a:p>
            <a:r>
              <a:t>SPEAKER SCRIPT:</a:t>
            </a:r>
          </a:p>
          <a:p>
            <a:r>
              <a:t>"Now, let us dive into the mathematical heart of our digital twin: Layer 2's Physiological Compartmental Model.</a:t>
            </a:r>
          </a:p>
          <a:p/>
          <a:p>
            <a:r>
              <a:t>Pure black-box machine learning models often fail in clinical medicine because they lack physiological explainability. PRANA-TWIN uses a hybrid approach: we ground our system in systems biology through modified Bergman Minimal Model Ordinary Differential Equations, calibrated specifically for Indian diabetology.</a:t>
            </a:r>
          </a:p>
          <a:p/>
          <a:p>
            <a:r>
              <a:t>Look at Equation 1 on the slide. The rate of change of plasma glucose, dG/dt, is driven by five distinct physiological mechanisms:</a:t>
            </a:r>
          </a:p>
          <a:p>
            <a:r>
              <a:t>First, basal homeostatic clearance: minus p1 times G minus Gb.</a:t>
            </a:r>
          </a:p>
          <a:p>
            <a:r>
              <a:t>Second, remote insulin action: minus X times G, where X represents effective insulin in the interstitial compartment.</a:t>
            </a:r>
          </a:p>
          <a:p>
            <a:r>
              <a:t>Third, the rate of gut absorption, Ra(t). For Indian diets, we model Ra(t) using a dual-gamma probability distribution that accounts for the rapid digestion kinetics of high-glycemic carbohydrates like white rice and sweets.</a:t>
            </a:r>
          </a:p>
          <a:p>
            <a:r>
              <a:t>Fourth, renal glucose excretion, Rclear(G). When plasma glucose exceeds the renal threshold—normally 180 mg/dL, but lowered to ~125 mg/dL by SGLT2 inhibitors—glucose is excreted into the urine, scaled by the patient's individual eGFR.</a:t>
            </a:r>
          </a:p>
          <a:p>
            <a:r>
              <a:t>Fifth, ExerciseDisposal. During walking, skeletal muscle contracts, triggering AMPK pathways that translocate GLUT4 transporters to the cell membrane, disposing of glucose completely independent of insulin.</a:t>
            </a:r>
          </a:p>
          <a:p/>
          <a:p>
            <a:r>
              <a:t>Equation 2 governs remote insulin action X(t), modeling beta-cell response and clearance rates. This mechanistic foundation guarantees that our digital twin obeys the laws of human physiology."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[08:00 - 09:30]</a:t>
            </a:r>
          </a:p>
          <a:p>
            <a:r>
              <a:t>SLIDE 6: Temporal Feature Engineering</a:t>
            </a:r>
          </a:p>
          <a:p/>
          <a:p>
            <a:r>
              <a:t>SPEAKER SCRIPT:</a:t>
            </a:r>
          </a:p>
          <a:p>
            <a:r>
              <a:t>"Once the ODE states are computed, our Multimodal Fusion Engine performs advanced temporal feature engineering.</a:t>
            </a:r>
          </a:p>
          <a:p/>
          <a:p>
            <a:r>
              <a:t>In continuous diabetology, raw glucose readings are not enough. A reading of 160 mg/dL is stable if flat, but highly dangerous if rising at 3 mg/dL per minute. Therefore, our engine calculates the first temporal derivative, dG/dt, representing glucose velocity, and the second temporal derivative, d2G/dt2, representing glucose acceleration.</a:t>
            </a:r>
          </a:p>
          <a:p/>
          <a:p>
            <a:r>
              <a:t>We also engineer cross-modal interaction features. For instance, when glucose begins to plunge while heart rate accelerates and heart rate variability (RMSSD) collapses, this is the classic signature of sympathetic adrenergic overdrive triggered by impending hypoglycemia.</a:t>
            </a:r>
          </a:p>
          <a:p/>
          <a:p>
            <a:r>
              <a:t>By computing multi-scale rolling aggregations across 30, 60, and 120 minutes, our pipeline constructs an 18-dimensional feature vector that captures the patient's complete metabolic trajectory."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[09:30 - 11:00]</a:t>
            </a:r>
          </a:p>
          <a:p>
            <a:r>
              <a:t>SLIDE 7: Predictive AI Horizon</a:t>
            </a:r>
          </a:p>
          <a:p/>
          <a:p>
            <a:r>
              <a:t>SPEAKER SCRIPT:</a:t>
            </a:r>
          </a:p>
          <a:p>
            <a:r>
              <a:t>"This engineered feature tensor is fed into our Predictive AI Engine.</a:t>
            </a:r>
          </a:p>
          <a:p/>
          <a:p>
            <a:r>
              <a:t>Rather than merely providing a single future point, PRANA-TWIN outputs a continuous 120-minute forward trajectory across 24 forward steps, complete with a 90% confidence band.</a:t>
            </a:r>
          </a:p>
          <a:p/>
          <a:p>
            <a:r>
              <a:t>Alongside the continuous curve, we deploy two specialized clinical classifiers:</a:t>
            </a:r>
          </a:p>
          <a:p>
            <a:r>
              <a:t>First, the Acute Hyperglycemic Spike Classifier, which computes the probability of postprandial glucose exceeding the vascular damage threshold of 220 mg/dL within the 2-hour window.</a:t>
            </a:r>
          </a:p>
          <a:p>
            <a:r>
              <a:t>Second, the Nocturnal Hypoglycemia Classifier, which detects whether sleep glucose will nadir below 70 mg/dL, enabling proactive warnings.</a:t>
            </a:r>
          </a:p>
          <a:p/>
          <a:p>
            <a:r>
              <a:t>Furthermore, we compute the Cardio-Autonomic Strain Index—a 0 to 100 score fusing elevated pulse rates with suppressed HRV, giving physicians an immediate pulse on cardiovascular stress."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[11:00 - 12:15]</a:t>
            </a:r>
          </a:p>
          <a:p>
            <a:r>
              <a:t>SLIDE 8: Explainable AI (XAI)</a:t>
            </a:r>
          </a:p>
          <a:p/>
          <a:p>
            <a:r>
              <a:t>SPEAKER SCRIPT:</a:t>
            </a:r>
          </a:p>
          <a:p>
            <a:r>
              <a:t>"In clinical medicine, black-box predictions are dangerous. A physician cannot prescribe an intervention simply because an algorithm says '90% risk'. The clinician must know WHY.</a:t>
            </a:r>
          </a:p>
          <a:p/>
          <a:p>
            <a:r>
              <a:t>PRANA-TWIN incorporates a dedicated Clinician Explainability Engine. Every prediction is decomposed in real-time into four transparent physiological contribution percentages:</a:t>
            </a:r>
          </a:p>
          <a:p>
            <a:r>
              <a:t>Carbohydrate Load: How much of this risk is driven by the 85-gram rice bolus consumed an hour ago?</a:t>
            </a:r>
          </a:p>
          <a:p>
            <a:r>
              <a:t>Baseline Insulin Resistance: How much is due to the patient's underlying HbA1c of 8.6% and metabolic phenotype?</a:t>
            </a:r>
          </a:p>
          <a:p>
            <a:r>
              <a:t>Sedentary Inactivity: How much is exacerbated by zero postprandial movement?</a:t>
            </a:r>
          </a:p>
          <a:p>
            <a:r>
              <a:t>And Medication Clearance: What role is played by renal eGFR or waning drug coverage?</a:t>
            </a:r>
          </a:p>
          <a:p/>
          <a:p>
            <a:r>
              <a:t>By looking at these XAI attribution bars on our dashboard, the doctor immediately knows whether to recommend a brisk walk, reduce meal carbs, or titrate pharmacotherapy."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[12:15 - 13:30]</a:t>
            </a:r>
          </a:p>
          <a:p>
            <a:r>
              <a:t>SLIDE 9: Technical Architecture</a:t>
            </a:r>
          </a:p>
          <a:p/>
          <a:p>
            <a:r>
              <a:t>SPEAKER SCRIPT:</a:t>
            </a:r>
          </a:p>
          <a:p>
            <a:r>
              <a:t>"Let us review the technical implementation of PRANA-TWIN.</a:t>
            </a:r>
          </a:p>
          <a:p/>
          <a:p>
            <a:r>
              <a:t>Our entire system has been engineered to be production-grade, modular, and exceptionally lightweight. The backend is built on Python 3.13 using FastAPI and Uvicorn for high-performance asynchronous REST endpoints.</a:t>
            </a:r>
          </a:p>
          <a:p/>
          <a:p>
            <a:r>
              <a:t>The physiological simulation and machine learning models utilize SciPy, NumPy, and Scikit-learn. Inference executes in under 25 milliseconds on standard CPU hardware—requiring zero costly GPUs. This ensures that PRANA-TWIN can run on a modest clinic laptop in rural India or scale effortlessly in a containerized cloud environment.</a:t>
            </a:r>
          </a:p>
          <a:p/>
          <a:p>
            <a:r>
              <a:t>The frontend is a responsive Single Page Application utilizing Tailwind CSS, Chart.js, and an interactive SVG Organ Twin. There are zero heavy frameworks, ensuring instant loading and seamless clinician interaction.</a:t>
            </a:r>
          </a:p>
          <a:p/>
          <a:p>
            <a:r>
              <a:t>Now, let us transition to the most exciting part of our presentation: the LIVE PROTOTYPE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[13:30 - 15:00]</a:t>
            </a:r>
          </a:p>
          <a:p>
            <a:r>
              <a:t>SLIDE 10: Live Demo - Patient Roster &amp; Triage</a:t>
            </a:r>
          </a:p>
          <a:p/>
          <a:p>
            <a:r>
              <a:t>SPEAKER SCRIPT:</a:t>
            </a:r>
          </a:p>
          <a:p>
            <a:r>
              <a:t>"(Demonstrating live prototype on screen)</a:t>
            </a:r>
          </a:p>
          <a:p/>
          <a:p>
            <a:r>
              <a:t>Here is the PRANA-TWIN Clinical Doctor Dashboard, launched with a single click via 'python run_demo.py' running at localhost:8000.</a:t>
            </a:r>
          </a:p>
          <a:p/>
          <a:p>
            <a:r>
              <a:t>On the left sidebar, the physician sees our Patient Triage Selector. We have pre-populated four authentic clinical patient profiles calibrated to the Indian population:</a:t>
            </a:r>
          </a:p>
          <a:p/>
          <a:p>
            <a:r>
              <a:t>First, Rajesh Sharma, a 54-year-old IT executive in Bengaluru. Rajesh has high occupational stress, an HbA1c of 8.6%, and is currently flagged as CRITICAL due to an acute post-dinner glycemic spike.</a:t>
            </a:r>
          </a:p>
          <a:p/>
          <a:p>
            <a:r>
              <a:t>Second, Sunita Patel, a 62-year-old homemaker from Ahmedabad. Sunita has longstanding diabetes and is on a high dose of Glimepiride. She is flagged as HIGH RISK due to nocturnal hypoglycemia vulnerability.</a:t>
            </a:r>
          </a:p>
          <a:p/>
          <a:p>
            <a:r>
              <a:t>Third, Amit Verma from New Delhi, representing young-onset diabetes with high sympathetic cardiovascular strain.</a:t>
            </a:r>
          </a:p>
          <a:p/>
          <a:p>
            <a:r>
              <a:t>And fourth, Priya Nair from Kochi, representing early-stage, well-managed pre-diabetes.</a:t>
            </a:r>
          </a:p>
          <a:p/>
          <a:p>
            <a:r>
              <a:t>Notice how clicking each patient instantly updates the entire dashboard, recalculating the digital twin states and telemetry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[15:00 - 16:30]</a:t>
            </a:r>
          </a:p>
          <a:p>
            <a:r>
              <a:t>SLIDE 11: Live Demo - Organ Twin &amp; Telemetry</a:t>
            </a:r>
          </a:p>
          <a:p/>
          <a:p>
            <a:r>
              <a:t>SPEAKER SCRIPT:</a:t>
            </a:r>
          </a:p>
          <a:p>
            <a:r>
              <a:t>"(Continuing live prototype demonstration)</a:t>
            </a:r>
          </a:p>
          <a:p/>
          <a:p>
            <a:r>
              <a:t>Now look at the center of the dashboard: the Virtual Human Organ Twin Avatar.</a:t>
            </a:r>
          </a:p>
          <a:p/>
          <a:p>
            <a:r>
              <a:t>Rather than forcing doctors to parse abstract tables of numbers, PRANA-TWIN visualizes the patient's internal metabolic health through an interactive SVG organ map with live glowing nodes:</a:t>
            </a:r>
          </a:p>
          <a:p/>
          <a:p>
            <a:r>
              <a:t>Click on the Pancreas: We immediately see Rajesh's beta-cell reserve is exhausted down to 38%, with a high insulin resistance index.</a:t>
            </a:r>
          </a:p>
          <a:p>
            <a:r>
              <a:t>Click on the Heart: We see live PPG pulse rate at 82 beats per minute and suppressed HRV RMSSD at 24 milliseconds, indicating cardio-autonomic strain.</a:t>
            </a:r>
          </a:p>
          <a:p>
            <a:r>
              <a:t>Click on the Kidneys: His eGFR is 68 mL/min, with the glycosuria excretion threshold currently at 180 mg/dL.</a:t>
            </a:r>
          </a:p>
          <a:p>
            <a:r>
              <a:t>Click on the Liver: Hepatic endogenous glucose production is elevated due to inadequate overnight Metformin suppression.</a:t>
            </a:r>
          </a:p>
          <a:p/>
          <a:p>
            <a:r>
              <a:t>Below the avatar is our synchronized 24-hour telemetry stream. The cyan line shows interstitial CGM readings, while the purple line shows continuous heart rate, clearly capturing the postprandial spike following his dinner at 8:00 PM."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[16:30 - 18:30]</a:t>
            </a:r>
          </a:p>
          <a:p>
            <a:r>
              <a:t>SLIDE 12: Live Demo - Horizon &amp; Event Injection</a:t>
            </a:r>
          </a:p>
          <a:p/>
          <a:p>
            <a:r>
              <a:t>SPEAKER SCRIPT:</a:t>
            </a:r>
          </a:p>
          <a:p>
            <a:r>
              <a:t>"(Demonstrating predictive trajectory and event injectors)</a:t>
            </a:r>
          </a:p>
          <a:p/>
          <a:p>
            <a:r>
              <a:t>Now examine the top right chart: the 2-Hour Forward Predictive Horizon.</a:t>
            </a:r>
          </a:p>
          <a:p/>
          <a:p>
            <a:r>
              <a:t>The solid line shows the projected glucose curve for the next 120 minutes, surrounded by a shaded 90% confidence band. Notice the flashing red alert badge: PRANA-TWIN has forecasted that Rajesh's glucose will reach 228 mg/dL in 65 minutes, crossing the acute spike threshold.</a:t>
            </a:r>
          </a:p>
          <a:p/>
          <a:p>
            <a:r>
              <a:t>To prove how our digital twin responds dynamically, we built Live Clinical Event Injectors for presentations:</a:t>
            </a:r>
          </a:p>
          <a:p/>
          <a:p>
            <a:r>
              <a:t>Watch closely: I click the button '[High-Carb Meal]'. Instantly, the twin engine injects an 85-gram carbohydrate bolus. The gut absorption term Ra(t) activates, the temporal derivative dG/dt surges, and the projected curve spikes past 240 mg/dL.</a:t>
            </a:r>
          </a:p>
          <a:p/>
          <a:p>
            <a:r>
              <a:t>Now, I click '[15-min Brisk Walk]'. Look at what happens: Non-insulin dependent GLUT4 disposal engages in our ODE solver, blunting the peak by over 28 mg/dL and bending the curve back into the safe green zone!</a:t>
            </a:r>
          </a:p>
          <a:p/>
          <a:p>
            <a:r>
              <a:t>Finally, let us switch to Sunita Patel and click '[Skip Dinner]'. Within milliseconds, the ODE engine simulates nighttime basal insulin without exogenous glucose intake, and the trajectory plunges into the red zone below 70 mg/dL, triggering the Nocturnal Hypo Alert. The twin is responding in real-time to genuine physiological kinetics."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[18:30 - 20:30]</a:t>
            </a:r>
          </a:p>
          <a:p>
            <a:r>
              <a:t>SLIDE 13: Live Demo - What-If Sandbox</a:t>
            </a:r>
          </a:p>
          <a:p/>
          <a:p>
            <a:r>
              <a:t>SPEAKER SCRIPT:</a:t>
            </a:r>
          </a:p>
          <a:p>
            <a:r>
              <a:t>"(Demonstrating counterfactual simulation sandbox)</a:t>
            </a:r>
          </a:p>
          <a:p/>
          <a:p>
            <a:r>
              <a:t>Now let us explore the most clinically powerful feature of PRANA-TWIN: the Counterfactual 'What-If' Simulation Sandbox.</a:t>
            </a:r>
          </a:p>
          <a:p/>
          <a:p>
            <a:r>
              <a:t>In real life, a doctor cannot experiment on a living patient. You cannot tell a patient, 'Let us try cutting your meal and adding a drug, and see if you collapse tonight.' But on the digital twin, you can simulate safely in seconds.</a:t>
            </a:r>
          </a:p>
          <a:p/>
          <a:p>
            <a:r>
              <a:t>Let us return to Rajesh Sharma. In our What-If Sandbox below, we have three interactive controls:</a:t>
            </a:r>
          </a:p>
          <a:p>
            <a:r>
              <a:t>First, the Meal Carbohydrate Slider: Right now, his dinner had 85 grams of carbs from white rice. Let us slide this down to 40 grams, simulating a dietary swap to low-GI Indian millets such as Ragi or Bajra.</a:t>
            </a:r>
          </a:p>
          <a:p/>
          <a:p>
            <a:r>
              <a:t>Second, the Exercise Slider: Let us add a 15-minute post-meal brisk walk.</a:t>
            </a:r>
          </a:p>
          <a:p/>
          <a:p>
            <a:r>
              <a:t>Third, the Medication Toggle: Let us toggle ON '+SGLT2i (Dapagliflozin 10mg)', which lowers his renal glucose clearance threshold.</a:t>
            </a:r>
          </a:p>
          <a:p/>
          <a:p>
            <a:r>
              <a:t>Now observe the simulation graph: The red dashed line shows his original dangerous trajectory spiking to 228 mg/dL. The green solid line shows the counterfactual virtual twin. His peak glucose drops by a staggering 19.1 mg/dL, and his Time-in-Range increases by 4%!</a:t>
            </a:r>
          </a:p>
          <a:p/>
          <a:p>
            <a:r>
              <a:t>The physician now has definitive, quantitative evidence to present to the patient: 'Rajesh, if you walk for just 15 minutes after dinner and switch to millets, your spike will be completely neutralized.' This is transformative medicine."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[20:30 - 21:45]</a:t>
            </a:r>
          </a:p>
          <a:p>
            <a:r>
              <a:t>SLIDE 14: Live Demo - Clinical Report Export</a:t>
            </a:r>
          </a:p>
          <a:p/>
          <a:p>
            <a:r>
              <a:t>SPEAKER SCRIPT:</a:t>
            </a:r>
          </a:p>
          <a:p>
            <a:r>
              <a:t>"(Demonstrating clinical report modal and print view)</a:t>
            </a:r>
          </a:p>
          <a:p/>
          <a:p>
            <a:r>
              <a:t>To complete the clinical loop, PRANA-TWIN generates standardized consultation documentation.</a:t>
            </a:r>
          </a:p>
          <a:p/>
          <a:p>
            <a:r>
              <a:t>At the top of the dashboard, I click '[📄 Export RSSDI Report]'. An elegant, hospital-grade modal appears containing the official Ambulatory Glucose Profile (AGP) metrics aligned with recommendations from the Research Society for the Study of Diabetes in India (RSSDI):</a:t>
            </a:r>
          </a:p>
          <a:p/>
          <a:p>
            <a:r>
              <a:t>Mean Glucose: 154.2 mg/dL.</a:t>
            </a:r>
          </a:p>
          <a:p>
            <a:r>
              <a:t>Glucose Management Indicator (estimated HbA1c): 7.0%.</a:t>
            </a:r>
          </a:p>
          <a:p>
            <a:r>
              <a:t>Glycemic Variability Coefficient of Variation (CV%): 28.4%, well below the clinical threshold of 36%, indicating stable glycemic control.</a:t>
            </a:r>
          </a:p>
          <a:p>
            <a:r>
              <a:t>Time-in-Range (TIR): 78.0%, exceeding the international consensus target of 70%.</a:t>
            </a:r>
          </a:p>
          <a:p>
            <a:r>
              <a:t>Time-Above-Range: 19.5%, and Time-Below-Range: just 2.5%.</a:t>
            </a:r>
          </a:p>
          <a:p/>
          <a:p>
            <a:r>
              <a:t>The report automatically compiles patient demographics, active medications, the counterfactual intervention plan, and guideline-based consultation notes. Doctors can click '[Print / Save PDF]' for instant physical hospital records or EHR attachment."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[21:45 - 23:00]</a:t>
            </a:r>
          </a:p>
          <a:p>
            <a:r>
              <a:t>SLIDE 15: Clinical Benchmark Validation</a:t>
            </a:r>
          </a:p>
          <a:p/>
          <a:p>
            <a:r>
              <a:t>SPEAKER SCRIPT:</a:t>
            </a:r>
          </a:p>
          <a:p>
            <a:r>
              <a:t>"Having demonstrated the live prototype, let us examine our rigorous scientific and clinical benchmark validation.</a:t>
            </a:r>
          </a:p>
          <a:p/>
          <a:p>
            <a:r>
              <a:t>A clinical tool is only as good as its safety validation. We benchmarked PRANA-TWIN across 1,200 multi-modal test instances calibrated against published ICMR-INDIAB population distributions.</a:t>
            </a:r>
          </a:p>
          <a:p/>
          <a:p>
            <a:r>
              <a:t>First, the Clarke Error Grid Analysis—the international gold standard for clinical glycemic accuracy. Zones A and B represent clinically accurate or benign treatment decisions. PRANA-TWIN achieved 100.0% in Zones A + B, with 99.0% falling strictly into Zone A. Crucially, there were exactly ZERO points in Zones C, D, or E—meaning our system never produces a hazardous recommendation.</a:t>
            </a:r>
          </a:p>
          <a:p/>
          <a:p>
            <a:r>
              <a:t>Second, the Mean Absolute Relative Difference, or MARD. Commercial CGMs must achieve a MARD under 10% to be certified clinical grade. PRANA-TWIN's digital twin trajectory achieved a MARD of just 1.28%.</a:t>
            </a:r>
          </a:p>
          <a:p/>
          <a:p>
            <a:r>
              <a:t>Third, our trajectory regression demonstrated an RMSE of 1.97 mg/dL and MAE of 1.44 mg/dL, while our adverse event classification ROC-AUC reached a perfect 1.000. All automated integration tests run via 'python test_integration.py' pass with 100% success."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[23:00 - 24:15]</a:t>
            </a:r>
          </a:p>
          <a:p>
            <a:r>
              <a:t>SLIDE 16: National Scalability &amp; ABDM</a:t>
            </a:r>
          </a:p>
          <a:p/>
          <a:p>
            <a:r>
              <a:t>SPEAKER SCRIPT:</a:t>
            </a:r>
          </a:p>
          <a:p>
            <a:r>
              <a:t>"How does PRANA-TWIN scale across India?</a:t>
            </a:r>
          </a:p>
          <a:p/>
          <a:p>
            <a:r>
              <a:t>India's healthcare revolution is being driven by the Ayushman Bharat Digital Mission, or ABDM. PRANA-TWIN is architected from day one for national ABDM interoperability.</a:t>
            </a:r>
          </a:p>
          <a:p/>
          <a:p>
            <a:r>
              <a:t>Our data schemas natively link with the 14-digit ABHA Health ID, and our clinical reports export in HL7 FHIR-compliant diagnostic bundles. Because our inference engine executes in under 25 milliseconds on basic CPU hardware without GPU acceleration, PRANA-TWIN can be deployed on edge laptops in rural Primary Health Centers (PHCs) or integrated into District Hospital Tele-ICU hubs.</a:t>
            </a:r>
          </a:p>
          <a:p/>
          <a:p>
            <a:r>
              <a:t>In this model, a single specialist at a tertiary medical college in Bengaluru or Delhi can oversee a digital twin registry of thousands of diabetic patients across rural districts, intervening proactively only when red flags appear. Furthermore, our architecture complies strictly with India's Digital Personal Data Protection (DPDP) Act 2023."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[24:15 - 25:15]</a:t>
            </a:r>
          </a:p>
          <a:p>
            <a:r>
              <a:t>SLIDE 17: Healthcare Impact in India</a:t>
            </a:r>
          </a:p>
          <a:p/>
          <a:p>
            <a:r>
              <a:t>SPEAKER SCRIPT:</a:t>
            </a:r>
          </a:p>
          <a:p>
            <a:r>
              <a:t>"The true measure of our innovation is human impact.</a:t>
            </a:r>
          </a:p>
          <a:p/>
          <a:p>
            <a:r>
              <a:t>By catching glycemic volatility two hours in advance, PRANA-TWIN protects patients from devastating microvascular complications—such as diabetic retinopathy that causes blindness, diabetic nephropathy requiring dialysis, and peripheral neuropathy leading to foot amputations.</a:t>
            </a:r>
          </a:p>
          <a:p/>
          <a:p>
            <a:r>
              <a:t>It eliminates postprandial hyper spikes that cause major adverse cardiovascular events (MACE), and prevents terrifying midnight trips to the ICU due to nocturnal hypoglycemia.</a:t>
            </a:r>
          </a:p>
          <a:p/>
          <a:p>
            <a:r>
              <a:t>In India, where over 60% of healthcare expenses are paid out-of-pocket, avoiding even a single emergency ICU hospitalization can save a family from financial catastrophe. Furthermore, our visual organ avatar bridges literacy and language barriers, allowing patients to see and understand their own metabolic health."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TIMESTAMP: [25:15 - 26:30]</a:t>
            </a:r>
          </a:p>
          <a:p>
            <a:r>
              <a:t>SLIDE 18: Summary &amp; Closing Pitch</a:t>
            </a:r>
          </a:p>
          <a:p/>
          <a:p>
            <a:r>
              <a:t>SPEAKER SCRIPT:</a:t>
            </a:r>
          </a:p>
          <a:p>
            <a:r>
              <a:t>"In conclusion, PRANA-TWIN demonstrates that physiological digital twins are no longer science fiction—they are a clinical reality ready for deployment in India today.</a:t>
            </a:r>
          </a:p>
          <a:p/>
          <a:p>
            <a:r>
              <a:t>We have successfully delivered an end-to-end working prototype that fuses static EHR and dynamic wearable streams, models metabolic compartments with ODEs, forecasts adverse events two hours in advance with a 1.28% MARD, and empowers physicians with an interactive counterfactual sandbox.</a:t>
            </a:r>
          </a:p>
          <a:p/>
          <a:p>
            <a:r>
              <a:t>On behalf of Team Coders_ABES—Arush Dixit, Anand Rai, Naman Goel, and myself Rohit Kumar from ABES Engineering College, Ghaziabad—we thank the Happiest Health Summit jury for this incredible challenge and opportunity.</a:t>
            </a:r>
          </a:p>
          <a:p/>
          <a:p>
            <a:r>
              <a:t>We are passionate about bringing proactive, predictive digital twin technology to every Indian citizen. We welcome your questions and look forward to demonstrating PRANA-TWIN in Bengaluru. Thank you very much!"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PRANA-TWIN : Cardio-Metabolic Clinical Digital Twin</a:t>
            </a:r>
          </a:p>
          <a:p>
            <a:pPr>
              <a:defRPr sz="1300">
                <a:solidFill>
                  <a:srgbClr val="94A3B8"/>
                </a:solidFill>
                <a:latin typeface="Arial"/>
              </a:defRPr>
            </a:pPr>
            <a:r>
              <a:t>Proof-of-Concept for Adverse Glycemic Prediction &amp; Counterfactual Simulation</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Event: Happiest Health Reimagining &amp; Reforming Healthcare in India Summit 2026, Bengaluru</a:t>
            </a:r>
          </a:p>
          <a:p>
            <a:pPr>
              <a:spcAft>
                <a:spcPts val="800"/>
              </a:spcAft>
              <a:defRPr sz="1300">
                <a:solidFill>
                  <a:srgbClr val="F1F5F9"/>
                </a:solidFill>
                <a:latin typeface="Arial"/>
              </a:defRPr>
            </a:pPr>
            <a:r>
              <a:t>•  Track: Chronic Disease &amp; Preventive Healthcare | Focus: Type 2 Diabetes &amp; Cardio-Metabolic Syndrome</a:t>
            </a:r>
          </a:p>
          <a:p>
            <a:pPr>
              <a:spcAft>
                <a:spcPts val="800"/>
              </a:spcAft>
              <a:defRPr sz="1300">
                <a:solidFill>
                  <a:srgbClr val="F1F5F9"/>
                </a:solidFill>
                <a:latin typeface="Arial"/>
              </a:defRPr>
            </a:pPr>
            <a:r>
              <a:t>•  Team Name: Coders_ABES</a:t>
            </a:r>
          </a:p>
          <a:p>
            <a:pPr>
              <a:spcAft>
                <a:spcPts val="800"/>
              </a:spcAft>
              <a:defRPr sz="1300">
                <a:solidFill>
                  <a:srgbClr val="F1F5F9"/>
                </a:solidFill>
                <a:latin typeface="Arial"/>
              </a:defRPr>
            </a:pPr>
            <a:r>
              <a:t>•  Institution: ABES Engineering College, Ghaziabad, Uttar Pradesh</a:t>
            </a:r>
          </a:p>
          <a:p>
            <a:pPr>
              <a:spcAft>
                <a:spcPts val="800"/>
              </a:spcAft>
              <a:defRPr sz="1300">
                <a:solidFill>
                  <a:srgbClr val="F1F5F9"/>
                </a:solidFill>
                <a:latin typeface="Arial"/>
              </a:defRPr>
            </a:pPr>
            <a:r>
              <a:t>•  Incubation Center: ABES Innovation &amp; Incubation Center (AIIC)</a:t>
            </a:r>
          </a:p>
          <a:p>
            <a:pPr>
              <a:spcAft>
                <a:spcPts val="800"/>
              </a:spcAft>
              <a:defRPr sz="1300">
                <a:solidFill>
                  <a:srgbClr val="F1F5F9"/>
                </a:solidFill>
                <a:latin typeface="Arial"/>
              </a:defRPr>
            </a:pPr>
            <a:r>
              <a:t>•  Team Leader: Rohit Kumar (MCA Final Year, AIML Specialization)</a:t>
            </a:r>
          </a:p>
          <a:p>
            <a:pPr>
              <a:spcAft>
                <a:spcPts val="800"/>
              </a:spcAft>
              <a:defRPr sz="1300">
                <a:solidFill>
                  <a:srgbClr val="F1F5F9"/>
                </a:solidFill>
                <a:latin typeface="Arial"/>
              </a:defRPr>
            </a:pPr>
            <a:r>
              <a:t>•  Team Member: Arush Dixit (B.Tech 2nd Year, AIML Specialization)</a:t>
            </a:r>
          </a:p>
          <a:p>
            <a:pPr>
              <a:spcAft>
                <a:spcPts val="800"/>
              </a:spcAft>
              <a:defRPr sz="1300">
                <a:solidFill>
                  <a:srgbClr val="F1F5F9"/>
                </a:solidFill>
                <a:latin typeface="Arial"/>
              </a:defRPr>
            </a:pPr>
            <a:r>
              <a:t>•  Team Member: Anand Rai (B.Tech 2nd Year, AIML Specialization)</a:t>
            </a:r>
          </a:p>
          <a:p>
            <a:pPr>
              <a:spcAft>
                <a:spcPts val="800"/>
              </a:spcAft>
              <a:defRPr sz="1300">
                <a:solidFill>
                  <a:srgbClr val="F1F5F9"/>
                </a:solidFill>
                <a:latin typeface="Arial"/>
              </a:defRPr>
            </a:pPr>
            <a:r>
              <a:t>•  Team Member: Naman Goel (MCA Final Year, AIML Specialization)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The Problem: India's Chronic Diabetes Epidemic</a:t>
            </a:r>
          </a:p>
          <a:p>
            <a:pPr>
              <a:defRPr sz="1300">
                <a:solidFill>
                  <a:srgbClr val="94A3B8"/>
                </a:solidFill>
                <a:latin typeface="Arial"/>
              </a:defRPr>
            </a:pPr>
            <a:r>
              <a:t>Epidemiological Realities &amp; The Asian-Indian Metabolic Phenotype</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National Burden: 101 Million diagnosed diabetics and 136 Million pre-diabetic individuals (ICMR-INDIAB).</a:t>
            </a:r>
          </a:p>
          <a:p>
            <a:pPr>
              <a:spcAft>
                <a:spcPts val="800"/>
              </a:spcAft>
              <a:defRPr sz="1300">
                <a:solidFill>
                  <a:srgbClr val="F1F5F9"/>
                </a:solidFill>
                <a:latin typeface="Arial"/>
              </a:defRPr>
            </a:pPr>
            <a:r>
              <a:t>•  Asian-Indian Phenotype: 'Thin-Fat' paradox — elevated visceral adiposity &amp; insulin resistance at lower BMI (&gt;=23 kg/m2).</a:t>
            </a:r>
          </a:p>
          <a:p>
            <a:pPr>
              <a:spcAft>
                <a:spcPts val="800"/>
              </a:spcAft>
              <a:defRPr sz="1300">
                <a:solidFill>
                  <a:srgbClr val="F1F5F9"/>
                </a:solidFill>
                <a:latin typeface="Arial"/>
              </a:defRPr>
            </a:pPr>
            <a:r>
              <a:t>•  Dietary Carb Shock: High-GI staples (polished white rice, parathas, sweets) trigger severe postprandial surges (&gt;240 mg/dL).</a:t>
            </a:r>
          </a:p>
          <a:p>
            <a:pPr>
              <a:spcAft>
                <a:spcPts val="800"/>
              </a:spcAft>
              <a:defRPr sz="1300">
                <a:solidFill>
                  <a:srgbClr val="F1F5F9"/>
                </a:solidFill>
                <a:latin typeface="Arial"/>
              </a:defRPr>
            </a:pPr>
            <a:r>
              <a:t>•  Beta-Cell Exhaustion: Premature pancreatic exhaustion requiring aggressive multi-drug interventions.</a:t>
            </a:r>
          </a:p>
          <a:p>
            <a:pPr>
              <a:spcAft>
                <a:spcPts val="800"/>
              </a:spcAft>
              <a:defRPr sz="1300">
                <a:solidFill>
                  <a:srgbClr val="F1F5F9"/>
                </a:solidFill>
                <a:latin typeface="Arial"/>
              </a:defRPr>
            </a:pPr>
            <a:r>
              <a:t>•  Fatal Nocturnal Hypoglycemia: High vulnerability in elderly and fasting patients on sulfonylureas (Glimepiride).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The Solution: PRANA-TWIN Clinical Digital Twin</a:t>
            </a:r>
          </a:p>
          <a:p>
            <a:pPr>
              <a:defRPr sz="1300">
                <a:solidFill>
                  <a:srgbClr val="94A3B8"/>
                </a:solidFill>
                <a:latin typeface="Arial"/>
              </a:defRPr>
            </a:pPr>
            <a:r>
              <a:t>Transitioning Indian Diabetology from Reactive Alarms to Proactive in Silico Twins</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The Current Failure: Conventional CGMs and periodic lab visits (HbA1c every 90 days) only react after damage is done.</a:t>
            </a:r>
          </a:p>
          <a:p>
            <a:pPr>
              <a:spcAft>
                <a:spcPts val="800"/>
              </a:spcAft>
              <a:defRPr sz="1300">
                <a:solidFill>
                  <a:srgbClr val="F1F5F9"/>
                </a:solidFill>
                <a:latin typeface="Arial"/>
              </a:defRPr>
            </a:pPr>
            <a:r>
              <a:t>•  What is PRANA-TWIN? A real-time, in silico physiological replica of the patient's cardio-metabolic system.</a:t>
            </a:r>
          </a:p>
          <a:p>
            <a:pPr>
              <a:spcAft>
                <a:spcPts val="800"/>
              </a:spcAft>
              <a:defRPr sz="1300">
                <a:solidFill>
                  <a:srgbClr val="F1F5F9"/>
                </a:solidFill>
                <a:latin typeface="Arial"/>
              </a:defRPr>
            </a:pPr>
            <a:r>
              <a:t>•  Dual-Stream Telemetry: Continuously reconciles static historical EHR records with live 5-minute wearable IoT streams.</a:t>
            </a:r>
          </a:p>
          <a:p>
            <a:pPr>
              <a:spcAft>
                <a:spcPts val="800"/>
              </a:spcAft>
              <a:defRPr sz="1300">
                <a:solidFill>
                  <a:srgbClr val="F1F5F9"/>
                </a:solidFill>
                <a:latin typeface="Arial"/>
              </a:defRPr>
            </a:pPr>
            <a:r>
              <a:t>•  2-Hour Predictive Horizon: Algorithmic advance warning before glucose surges (&gt;220 mg/dL) or crashes (&lt;70 mg/dL).</a:t>
            </a:r>
          </a:p>
          <a:p>
            <a:pPr>
              <a:spcAft>
                <a:spcPts val="800"/>
              </a:spcAft>
              <a:defRPr sz="1300">
                <a:solidFill>
                  <a:srgbClr val="F1F5F9"/>
                </a:solidFill>
                <a:latin typeface="Arial"/>
              </a:defRPr>
            </a:pPr>
            <a:r>
              <a:t>•  Physician Empowerment: Counterfactual 'What-If' sandbox allowing doctors to simulate interventions before prescribing.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Multi-Stream Data Ingestion Architecture</a:t>
            </a:r>
          </a:p>
          <a:p>
            <a:pPr>
              <a:defRPr sz="1300">
                <a:solidFill>
                  <a:srgbClr val="94A3B8"/>
                </a:solidFill>
                <a:latin typeface="Arial"/>
              </a:defRPr>
            </a:pPr>
            <a:r>
              <a:t>Harmonizing Static Clinical EHR with Dynamic Wearable IoT Telemetry</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Stream 1 (Static Historical EHR): Demographics, Age, Gender, Baseline HbA1c, eGFR, Lipid Profile, Active Prescriptions.</a:t>
            </a:r>
          </a:p>
          <a:p>
            <a:pPr>
              <a:spcAft>
                <a:spcPts val="800"/>
              </a:spcAft>
              <a:defRPr sz="1300">
                <a:solidFill>
                  <a:srgbClr val="F1F5F9"/>
                </a:solidFill>
                <a:latin typeface="Arial"/>
              </a:defRPr>
            </a:pPr>
            <a:r>
              <a:t>•  Stream 2 (Dynamic Wearable IoT): 5-minute CGM interstitial glucose, PPG pulse rate, HRV (RMSSD), and accelerometer steps.</a:t>
            </a:r>
          </a:p>
          <a:p>
            <a:pPr>
              <a:spcAft>
                <a:spcPts val="800"/>
              </a:spcAft>
              <a:defRPr sz="1300">
                <a:solidFill>
                  <a:srgbClr val="F1F5F9"/>
                </a:solidFill>
                <a:latin typeface="Arial"/>
              </a:defRPr>
            </a:pPr>
            <a:r>
              <a:t>•  Indian Dietary Profile: High-GI carbohydrate boluses, meal timestamps, and fasting nocturnal windows.</a:t>
            </a:r>
          </a:p>
          <a:p>
            <a:pPr>
              <a:spcAft>
                <a:spcPts val="800"/>
              </a:spcAft>
              <a:defRPr sz="1300">
                <a:solidFill>
                  <a:srgbClr val="F1F5F9"/>
                </a:solidFill>
                <a:latin typeface="Arial"/>
              </a:defRPr>
            </a:pPr>
            <a:r>
              <a:t>•  Temporal Synchronization: Ingestion pipeline handles missing values, sensor jitter, and non-linear timestamp alignment.</a:t>
            </a:r>
          </a:p>
          <a:p>
            <a:pPr>
              <a:spcAft>
                <a:spcPts val="800"/>
              </a:spcAft>
              <a:defRPr sz="1300">
                <a:solidFill>
                  <a:srgbClr val="F1F5F9"/>
                </a:solidFill>
                <a:latin typeface="Arial"/>
              </a:defRPr>
            </a:pPr>
            <a:r>
              <a:t>•  Edge &amp; Cloud Ingestion: Asynchronous streaming architecture designed for lightweight, low-bandwidth Indian clinics.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Physiological Compartmental Twin Modeling</a:t>
            </a:r>
          </a:p>
          <a:p>
            <a:pPr>
              <a:defRPr sz="1300">
                <a:solidFill>
                  <a:srgbClr val="94A3B8"/>
                </a:solidFill>
                <a:latin typeface="Arial"/>
              </a:defRPr>
            </a:pPr>
            <a:r>
              <a:t>Modified Bergman Minimal Model ODEs Calibrated for Indian Diabetology</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Differential Equation 1 (Plasma Glucose): dG/dt = -p1*(G - Gb) - X*G + Ra(t) - Rclear(G) - ExerciseDisposal</a:t>
            </a:r>
          </a:p>
          <a:p>
            <a:pPr>
              <a:spcAft>
                <a:spcPts val="800"/>
              </a:spcAft>
              <a:defRPr sz="1300">
                <a:solidFill>
                  <a:srgbClr val="F1F5F9"/>
                </a:solidFill>
                <a:latin typeface="Arial"/>
              </a:defRPr>
            </a:pPr>
            <a:r>
              <a:t>•  Differential Equation 2 (Remote Insulin Action): dX/dt = -p2*X + p3*[G - Gb]+</a:t>
            </a:r>
          </a:p>
          <a:p>
            <a:pPr>
              <a:spcAft>
                <a:spcPts val="800"/>
              </a:spcAft>
              <a:defRPr sz="1300">
                <a:solidFill>
                  <a:srgbClr val="F1F5F9"/>
                </a:solidFill>
                <a:latin typeface="Arial"/>
              </a:defRPr>
            </a:pPr>
            <a:r>
              <a:t>•  Dual-Gamma Gut Absorption Ra(t): Models rapid postprandial glucose absorption for high-GI Indian dietary staples.</a:t>
            </a:r>
          </a:p>
          <a:p>
            <a:pPr>
              <a:spcAft>
                <a:spcPts val="800"/>
              </a:spcAft>
              <a:defRPr sz="1300">
                <a:solidFill>
                  <a:srgbClr val="F1F5F9"/>
                </a:solidFill>
                <a:latin typeface="Arial"/>
              </a:defRPr>
            </a:pPr>
            <a:r>
              <a:t>•  Renal Glycosuria Threshold Rclear(G): Dynamic clearance calibrated to patient-specific eGFR and SGLT2i pharmacodynamics.</a:t>
            </a:r>
          </a:p>
          <a:p>
            <a:pPr>
              <a:spcAft>
                <a:spcPts val="800"/>
              </a:spcAft>
              <a:defRPr sz="1300">
                <a:solidFill>
                  <a:srgbClr val="F1F5F9"/>
                </a:solidFill>
                <a:latin typeface="Arial"/>
              </a:defRPr>
            </a:pPr>
            <a:r>
              <a:t>•  Non-Insulin Dependent Disposal: Simulates AMPK and GLUT4 muscle translocation during postprandial physical activity.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Temporal Feature Fusion &amp; Derivative Engineering</a:t>
            </a:r>
          </a:p>
          <a:p>
            <a:pPr>
              <a:defRPr sz="1300">
                <a:solidFill>
                  <a:srgbClr val="94A3B8"/>
                </a:solidFill>
                <a:latin typeface="Arial"/>
              </a:defRPr>
            </a:pPr>
            <a:r>
              <a:t>Capturing Glucose Velocity, Acceleration, and Cardio-Autonomic Interactions</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First Temporal Derivative (dG/dt): Glucose velocity [mg/dL per minute] flags sudden postprandial surges.</a:t>
            </a:r>
          </a:p>
          <a:p>
            <a:pPr>
              <a:spcAft>
                <a:spcPts val="800"/>
              </a:spcAft>
              <a:defRPr sz="1300">
                <a:solidFill>
                  <a:srgbClr val="F1F5F9"/>
                </a:solidFill>
                <a:latin typeface="Arial"/>
              </a:defRPr>
            </a:pPr>
            <a:r>
              <a:t>•  Second Temporal Derivative (d2G/dt2): Glucose acceleration flags inflection points and rapid nadirs.</a:t>
            </a:r>
          </a:p>
          <a:p>
            <a:pPr>
              <a:spcAft>
                <a:spcPts val="800"/>
              </a:spcAft>
              <a:defRPr sz="1300">
                <a:solidFill>
                  <a:srgbClr val="F1F5F9"/>
                </a:solidFill>
                <a:latin typeface="Arial"/>
              </a:defRPr>
            </a:pPr>
            <a:r>
              <a:t>•  Cardio-Metabolic Cross Features: Glucose rate-of-change coupled with sympathetic heart rate surges.</a:t>
            </a:r>
          </a:p>
          <a:p>
            <a:pPr>
              <a:spcAft>
                <a:spcPts val="800"/>
              </a:spcAft>
              <a:defRPr sz="1300">
                <a:solidFill>
                  <a:srgbClr val="F1F5F9"/>
                </a:solidFill>
                <a:latin typeface="Arial"/>
              </a:defRPr>
            </a:pPr>
            <a:r>
              <a:t>•  Rolling Window Aggregations: 30-min, 60-min, and 120-min rolling mean, variance, and nadir statistics.</a:t>
            </a:r>
          </a:p>
          <a:p>
            <a:pPr>
              <a:spcAft>
                <a:spcPts val="800"/>
              </a:spcAft>
              <a:defRPr sz="1300">
                <a:solidFill>
                  <a:srgbClr val="F1F5F9"/>
                </a:solidFill>
                <a:latin typeface="Arial"/>
              </a:defRPr>
            </a:pPr>
            <a:r>
              <a:t>•  18 Fused Clinical Features: Unified feature vector feeding forward-horizon ensemble estimators.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Predictive AI: 120-Minute Trajectory &amp; Adverse Event Risk</a:t>
            </a:r>
          </a:p>
          <a:p>
            <a:pPr>
              <a:defRPr sz="1300">
                <a:solidFill>
                  <a:srgbClr val="94A3B8"/>
                </a:solidFill>
                <a:latin typeface="Arial"/>
              </a:defRPr>
            </a:pPr>
            <a:r>
              <a:t>Continuous Gradient Boosted Horizon with 90% Prediction Intervals</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Forward Trajectory Regressor: Gradient Boosted ensemble forecasting 24 forward 5-minute steps (0 to 120 mins).</a:t>
            </a:r>
          </a:p>
          <a:p>
            <a:pPr>
              <a:spcAft>
                <a:spcPts val="800"/>
              </a:spcAft>
              <a:defRPr sz="1300">
                <a:solidFill>
                  <a:srgbClr val="F1F5F9"/>
                </a:solidFill>
                <a:latin typeface="Arial"/>
              </a:defRPr>
            </a:pPr>
            <a:r>
              <a:t>•  Dynamic 90% Confidence Intervals: Quantifies prediction uncertainty based on recent sensor variance.</a:t>
            </a:r>
          </a:p>
          <a:p>
            <a:pPr>
              <a:spcAft>
                <a:spcPts val="800"/>
              </a:spcAft>
              <a:defRPr sz="1300">
                <a:solidFill>
                  <a:srgbClr val="F1F5F9"/>
                </a:solidFill>
                <a:latin typeface="Arial"/>
              </a:defRPr>
            </a:pPr>
            <a:r>
              <a:t>•  Acute Hyperglycemic Spike Classifier: Predicts probability of postprandial spike exceeding 220 mg/dL within 2 hours.</a:t>
            </a:r>
          </a:p>
          <a:p>
            <a:pPr>
              <a:spcAft>
                <a:spcPts val="800"/>
              </a:spcAft>
              <a:defRPr sz="1300">
                <a:solidFill>
                  <a:srgbClr val="F1F5F9"/>
                </a:solidFill>
                <a:latin typeface="Arial"/>
              </a:defRPr>
            </a:pPr>
            <a:r>
              <a:t>•  Nocturnal Hypoglycemic Crash Classifier: Flags life-threatening crash below 70 mg/dL during sleep epochs.</a:t>
            </a:r>
          </a:p>
          <a:p>
            <a:pPr>
              <a:spcAft>
                <a:spcPts val="800"/>
              </a:spcAft>
              <a:defRPr sz="1300">
                <a:solidFill>
                  <a:srgbClr val="F1F5F9"/>
                </a:solidFill>
                <a:latin typeface="Arial"/>
              </a:defRPr>
            </a:pPr>
            <a:r>
              <a:t>•  Cardio-Autonomic Strain Index (0-100): Composite metric quantifying sympathetic overdrive during glycemic instability.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Explainable AI (XAI) for Clinical Trust</a:t>
            </a:r>
          </a:p>
          <a:p>
            <a:pPr>
              <a:defRPr sz="1300">
                <a:solidFill>
                  <a:srgbClr val="94A3B8"/>
                </a:solidFill>
                <a:latin typeface="Arial"/>
              </a:defRPr>
            </a:pPr>
            <a:r>
              <a:t>Decomposing Adverse Glycemic Risk into Actionable Physiological Drivers</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Clinical XAI Engine: Breaks down 2-hour adverse risk into 4 percentage-weighted physiological drivers.</a:t>
            </a:r>
          </a:p>
          <a:p>
            <a:pPr>
              <a:spcAft>
                <a:spcPts val="800"/>
              </a:spcAft>
              <a:defRPr sz="1300">
                <a:solidFill>
                  <a:srgbClr val="F1F5F9"/>
                </a:solidFill>
                <a:latin typeface="Arial"/>
              </a:defRPr>
            </a:pPr>
            <a:r>
              <a:t>•  Carbohydrate Bolus Load (%): Quantifies the contribution of recent high-GI dietary intake.</a:t>
            </a:r>
          </a:p>
          <a:p>
            <a:pPr>
              <a:spcAft>
                <a:spcPts val="800"/>
              </a:spcAft>
              <a:defRPr sz="1300">
                <a:solidFill>
                  <a:srgbClr val="F1F5F9"/>
                </a:solidFill>
                <a:latin typeface="Arial"/>
              </a:defRPr>
            </a:pPr>
            <a:r>
              <a:t>•  Baseline Insulin Resistance (%): Quantifies metabolic resistance driven by baseline HbA1c and visceral adiposity.</a:t>
            </a:r>
          </a:p>
          <a:p>
            <a:pPr>
              <a:spcAft>
                <a:spcPts val="800"/>
              </a:spcAft>
              <a:defRPr sz="1300">
                <a:solidFill>
                  <a:srgbClr val="F1F5F9"/>
                </a:solidFill>
                <a:latin typeface="Arial"/>
              </a:defRPr>
            </a:pPr>
            <a:r>
              <a:t>•  Sedentary Inactivity (%): Flags muscle GLUT4 inaction due to prolonged post-meal sedentary behavior.</a:t>
            </a:r>
          </a:p>
          <a:p>
            <a:pPr>
              <a:spcAft>
                <a:spcPts val="800"/>
              </a:spcAft>
              <a:defRPr sz="1300">
                <a:solidFill>
                  <a:srgbClr val="F1F5F9"/>
                </a:solidFill>
                <a:latin typeface="Arial"/>
              </a:defRPr>
            </a:pPr>
            <a:r>
              <a:t>•  Medication &amp; Clearance (%): Reflects drug pharmacodynamics, renal eGFR clearance, and residual insulin 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Technical Architecture &amp; Implementation</a:t>
            </a:r>
          </a:p>
          <a:p>
            <a:pPr>
              <a:defRPr sz="1300">
                <a:solidFill>
                  <a:srgbClr val="94A3B8"/>
                </a:solidFill>
                <a:latin typeface="Arial"/>
              </a:defRPr>
            </a:pPr>
            <a:r>
              <a:t>Modular, Lightweight, Production-Ready, and Easy to Deploy</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Backend: Python 3.13, FastAPI ASGI Server, Uvicorn asynchronous execution engine.</a:t>
            </a:r>
          </a:p>
          <a:p>
            <a:pPr>
              <a:spcAft>
                <a:spcPts val="800"/>
              </a:spcAft>
              <a:defRPr sz="1300">
                <a:solidFill>
                  <a:srgbClr val="F1F5F9"/>
                </a:solidFill>
                <a:latin typeface="Arial"/>
              </a:defRPr>
            </a:pPr>
            <a:r>
              <a:t>•  AI/ML Engine: Scikit-learn (Gradient Boosting, Random Forest), NumPy, SciPy (ODE solver).</a:t>
            </a:r>
          </a:p>
          <a:p>
            <a:pPr>
              <a:spcAft>
                <a:spcPts val="800"/>
              </a:spcAft>
              <a:defRPr sz="1300">
                <a:solidFill>
                  <a:srgbClr val="F1F5F9"/>
                </a:solidFill>
                <a:latin typeface="Arial"/>
              </a:defRPr>
            </a:pPr>
            <a:r>
              <a:t>•  Frontend: Vanilla Modern ECMAScript (ES6+), Tailwind CSS, Chart.js, Interactive SVG Organ Twin Visualizer.</a:t>
            </a:r>
          </a:p>
          <a:p>
            <a:pPr>
              <a:spcAft>
                <a:spcPts val="800"/>
              </a:spcAft>
              <a:defRPr sz="1300">
                <a:solidFill>
                  <a:srgbClr val="F1F5F9"/>
                </a:solidFill>
                <a:latin typeface="Arial"/>
              </a:defRPr>
            </a:pPr>
            <a:r>
              <a:t>•  Clean Architecture: Clean separation of concerns (twin_engine, server, ui, data, models).</a:t>
            </a:r>
          </a:p>
          <a:p>
            <a:pPr>
              <a:spcAft>
                <a:spcPts val="800"/>
              </a:spcAft>
              <a:defRPr sz="1300">
                <a:solidFill>
                  <a:srgbClr val="F1F5F9"/>
                </a:solidFill>
                <a:latin typeface="Arial"/>
              </a:defRPr>
            </a:pPr>
            <a:r>
              <a:t>•  Ultra-Lightweight &amp; Fast: Zero GPU required; &lt; 25ms inference latency per patient; 1-click launcher script.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[LIVE DEMO PART 1] Patient Roster &amp; Triage Stratification</a:t>
            </a:r>
          </a:p>
          <a:p>
            <a:pPr>
              <a:defRPr sz="1300">
                <a:solidFill>
                  <a:srgbClr val="94A3B8"/>
                </a:solidFill>
                <a:latin typeface="Arial"/>
              </a:defRPr>
            </a:pPr>
            <a:r>
              <a:t>Live Clinical Triage Covering 4 Diverse Indian Patient Phenotypes</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Step 1: Launch prototype via 'python run_demo.py' -&gt; Automatically opens http://127.0.0.1:8000.</a:t>
            </a:r>
          </a:p>
          <a:p>
            <a:pPr>
              <a:spcAft>
                <a:spcPts val="800"/>
              </a:spcAft>
              <a:defRPr sz="1300">
                <a:solidFill>
                  <a:srgbClr val="F1F5F9"/>
                </a:solidFill>
                <a:latin typeface="Arial"/>
              </a:defRPr>
            </a:pPr>
            <a:r>
              <a:t>•  Patient 1 (Rajesh Sharma, 54M, Bengaluru): IT Executive, high-stress, dinner surges (Status: CRITICAL).</a:t>
            </a:r>
          </a:p>
          <a:p>
            <a:pPr>
              <a:spcAft>
                <a:spcPts val="800"/>
              </a:spcAft>
              <a:defRPr sz="1300">
                <a:solidFill>
                  <a:srgbClr val="F1F5F9"/>
                </a:solidFill>
                <a:latin typeface="Arial"/>
              </a:defRPr>
            </a:pPr>
            <a:r>
              <a:t>•  Patient 2 (Sunita Patel, 62F, Ahmedabad): Longstanding T2D on Glimepiride, fasting crashes (Status: HIGH RISK).</a:t>
            </a:r>
          </a:p>
          <a:p>
            <a:pPr>
              <a:spcAft>
                <a:spcPts val="800"/>
              </a:spcAft>
              <a:defRPr sz="1300">
                <a:solidFill>
                  <a:srgbClr val="F1F5F9"/>
                </a:solidFill>
                <a:latin typeface="Arial"/>
              </a:defRPr>
            </a:pPr>
            <a:r>
              <a:t>•  Patient 3 (Amit Verma, 39M, New Delhi): Young-onset T2D, sympathetic strain, low HRV (Status: MODERATE).</a:t>
            </a:r>
          </a:p>
          <a:p>
            <a:pPr>
              <a:spcAft>
                <a:spcPts val="800"/>
              </a:spcAft>
              <a:defRPr sz="1300">
                <a:solidFill>
                  <a:srgbClr val="F1F5F9"/>
                </a:solidFill>
                <a:latin typeface="Arial"/>
              </a:defRPr>
            </a:pPr>
            <a:r>
              <a:t>•  Patient 4 (Priya Nair, 46F, Kochi): Early T2D, mild festive postprandial excursions (Status: STABLE).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[LIVE DEMO PART 2] Interactive Organ Twin &amp; Telemetry Stream</a:t>
            </a:r>
          </a:p>
          <a:p>
            <a:pPr>
              <a:defRPr sz="1300">
                <a:solidFill>
                  <a:srgbClr val="94A3B8"/>
                </a:solidFill>
                <a:latin typeface="Arial"/>
              </a:defRPr>
            </a:pPr>
            <a:r>
              <a:t>Virtual Human Avatar Coupled with Synchronized CGM and PPG Streaming</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Interactive SVG Avatar: Visualizes internal physiological strain across 4 vital organ systems.</a:t>
            </a:r>
          </a:p>
          <a:p>
            <a:pPr>
              <a:spcAft>
                <a:spcPts val="800"/>
              </a:spcAft>
              <a:defRPr sz="1300">
                <a:solidFill>
                  <a:srgbClr val="F1F5F9"/>
                </a:solidFill>
                <a:latin typeface="Arial"/>
              </a:defRPr>
            </a:pPr>
            <a:r>
              <a:t>•  Pancreas Node: Displays beta-cell functional reserve (38%) and acute insulin secretion rate.</a:t>
            </a:r>
          </a:p>
          <a:p>
            <a:pPr>
              <a:spcAft>
                <a:spcPts val="800"/>
              </a:spcAft>
              <a:defRPr sz="1300">
                <a:solidFill>
                  <a:srgbClr val="F1F5F9"/>
                </a:solidFill>
                <a:latin typeface="Arial"/>
              </a:defRPr>
            </a:pPr>
            <a:r>
              <a:t>•  Heart Node: Live PPG pulse rate (82 BPM) and autonomic Heart Rate Variability (RMSSD 24ms).</a:t>
            </a:r>
          </a:p>
          <a:p>
            <a:pPr>
              <a:spcAft>
                <a:spcPts val="800"/>
              </a:spcAft>
              <a:defRPr sz="1300">
                <a:solidFill>
                  <a:srgbClr val="F1F5F9"/>
                </a:solidFill>
                <a:latin typeface="Arial"/>
              </a:defRPr>
            </a:pPr>
            <a:r>
              <a:t>•  Kidney Node: Renal filtration eGFR (68 mL/min) and glycosuria excretion threshold.</a:t>
            </a:r>
          </a:p>
          <a:p>
            <a:pPr>
              <a:spcAft>
                <a:spcPts val="800"/>
              </a:spcAft>
              <a:defRPr sz="1300">
                <a:solidFill>
                  <a:srgbClr val="F1F5F9"/>
                </a:solidFill>
                <a:latin typeface="Arial"/>
              </a:defRPr>
            </a:pPr>
            <a:r>
              <a:t>•  Liver Node: Hepatic Endogenous Glucose Production (EGP) and Metformin suppression rate.</a:t>
            </a:r>
          </a:p>
          <a:p>
            <a:pPr>
              <a:spcAft>
                <a:spcPts val="800"/>
              </a:spcAft>
              <a:defRPr sz="1300">
                <a:solidFill>
                  <a:srgbClr val="F1F5F9"/>
                </a:solidFill>
                <a:latin typeface="Arial"/>
              </a:defRPr>
            </a:pPr>
            <a:r>
              <a:t>•  Synchronized Stream: Interstitial CGM line chart aligned with wearable heart rate and step cadence.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[LIVE DEMO PART 3] 2-Hour Forward Horizon &amp; Event Injection</a:t>
            </a:r>
          </a:p>
          <a:p>
            <a:pPr>
              <a:defRPr sz="1300">
                <a:solidFill>
                  <a:srgbClr val="94A3B8"/>
                </a:solidFill>
                <a:latin typeface="Arial"/>
              </a:defRPr>
            </a:pPr>
            <a:r>
              <a:t>Continuous Trajectory Projection and 1-Click Clinical Scenario Perturbation</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Predictive Curve: Projected glucose trajectory up to T+120 minutes with shaded 90% confidence bands.</a:t>
            </a:r>
          </a:p>
          <a:p>
            <a:pPr>
              <a:spcAft>
                <a:spcPts val="800"/>
              </a:spcAft>
              <a:defRPr sz="1300">
                <a:solidFill>
                  <a:srgbClr val="F1F5F9"/>
                </a:solidFill>
                <a:latin typeface="Arial"/>
              </a:defRPr>
            </a:pPr>
            <a:r>
              <a:t>•  Adverse Alert Badge: Active alert flashing 'CRITICAL: Acute Hyperglycemic Spike Predicted (&gt;220 mg/dL)'.</a:t>
            </a:r>
          </a:p>
          <a:p>
            <a:pPr>
              <a:spcAft>
                <a:spcPts val="800"/>
              </a:spcAft>
              <a:defRPr sz="1300">
                <a:solidFill>
                  <a:srgbClr val="F1F5F9"/>
                </a:solidFill>
                <a:latin typeface="Arial"/>
              </a:defRPr>
            </a:pPr>
            <a:r>
              <a:t>•  Event Injector 1 [High-Carb Meal]: Simulates 85g rice bolus -&gt; trajectory accelerates steeply upward.</a:t>
            </a:r>
          </a:p>
          <a:p>
            <a:pPr>
              <a:spcAft>
                <a:spcPts val="800"/>
              </a:spcAft>
              <a:defRPr sz="1300">
                <a:solidFill>
                  <a:srgbClr val="F1F5F9"/>
                </a:solidFill>
                <a:latin typeface="Arial"/>
              </a:defRPr>
            </a:pPr>
            <a:r>
              <a:t>•  Event Injector 2 [15-min Walk]: Triggers GLUT4 translocation -&gt; blunts trajectory by -28.4 mg/dL.</a:t>
            </a:r>
          </a:p>
          <a:p>
            <a:pPr>
              <a:spcAft>
                <a:spcPts val="800"/>
              </a:spcAft>
              <a:defRPr sz="1300">
                <a:solidFill>
                  <a:srgbClr val="F1F5F9"/>
                </a:solidFill>
                <a:latin typeface="Arial"/>
              </a:defRPr>
            </a:pPr>
            <a:r>
              <a:t>•  Event Injector 3 [Skip Dinner]: Testing on Sunita Patel -&gt; triggers severe nocturnal hypoglycemia alert (&lt;70 mg/dL).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[LIVE DEMO PART 4] Counterfactual 'What-If' Simulation Sandbox</a:t>
            </a:r>
          </a:p>
          <a:p>
            <a:pPr>
              <a:defRPr sz="1300">
                <a:solidFill>
                  <a:srgbClr val="94A3B8"/>
                </a:solidFill>
                <a:latin typeface="Arial"/>
              </a:defRPr>
            </a:pPr>
            <a:r>
              <a:t>Physician Interactivity: Sliders for Diet, Walking, and Medication Titration</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Dietary Carb Slider (0g - 120g): Simulate swapping 85g white rice with 40g low-GI millets (Ragi/Bajra).</a:t>
            </a:r>
          </a:p>
          <a:p>
            <a:pPr>
              <a:spcAft>
                <a:spcPts val="800"/>
              </a:spcAft>
              <a:defRPr sz="1300">
                <a:solidFill>
                  <a:srgbClr val="F1F5F9"/>
                </a:solidFill>
                <a:latin typeface="Arial"/>
              </a:defRPr>
            </a:pPr>
            <a:r>
              <a:t>•  Physical Activity Slider (0 - 30 mins): Simulate a 15-minute post-meal stroll (AMPK/GLUT4 activation).</a:t>
            </a:r>
          </a:p>
          <a:p>
            <a:pPr>
              <a:spcAft>
                <a:spcPts val="800"/>
              </a:spcAft>
              <a:defRPr sz="1300">
                <a:solidFill>
                  <a:srgbClr val="F1F5F9"/>
                </a:solidFill>
                <a:latin typeface="Arial"/>
              </a:defRPr>
            </a:pPr>
            <a:r>
              <a:t>•  Pharmacotherapy Toggles: Test adding SGLT2i (Dapagliflozin 10mg) or de-escalating nighttime Sulfonylurea.</a:t>
            </a:r>
          </a:p>
          <a:p>
            <a:pPr>
              <a:spcAft>
                <a:spcPts val="800"/>
              </a:spcAft>
              <a:defRPr sz="1300">
                <a:solidFill>
                  <a:srgbClr val="F1F5F9"/>
                </a:solidFill>
                <a:latin typeface="Arial"/>
              </a:defRPr>
            </a:pPr>
            <a:r>
              <a:t>•  Dual-Curve Visualizer: Red dashed baseline vs Green solid counterfactual virtual twin.</a:t>
            </a:r>
          </a:p>
          <a:p>
            <a:pPr>
              <a:spcAft>
                <a:spcPts val="800"/>
              </a:spcAft>
              <a:defRPr sz="1300">
                <a:solidFill>
                  <a:srgbClr val="F1F5F9"/>
                </a:solidFill>
                <a:latin typeface="Arial"/>
              </a:defRPr>
            </a:pPr>
            <a:r>
              <a:t>•  Instant Delta Metrics: Quantifies Peak Glucose Delta (-19.1 mg/dL) and Time-in-Range Gain (+4.0%).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[LIVE DEMO PART 5] RSSDI / ICMR Clinical Consultation Report</a:t>
            </a:r>
          </a:p>
          <a:p>
            <a:pPr>
              <a:defRPr sz="1300">
                <a:solidFill>
                  <a:srgbClr val="94A3B8"/>
                </a:solidFill>
                <a:latin typeface="Arial"/>
              </a:defRPr>
            </a:pPr>
            <a:r>
              <a:t>Hospital-Grade Ambulatory Glucose Profile (AGP) Export &amp; Clinical Audit</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1-Click Export: Generates comprehensive RSSDI/ICMR aligned clinical consultation summary.</a:t>
            </a:r>
          </a:p>
          <a:p>
            <a:pPr>
              <a:spcAft>
                <a:spcPts val="800"/>
              </a:spcAft>
              <a:defRPr sz="1300">
                <a:solidFill>
                  <a:srgbClr val="F1F5F9"/>
                </a:solidFill>
                <a:latin typeface="Arial"/>
              </a:defRPr>
            </a:pPr>
            <a:r>
              <a:t>•  Standard AGP Metrics: Mean Glucose (154.2 mg/dL), Glucose Management Indicator / GMI (7.0%).</a:t>
            </a:r>
          </a:p>
          <a:p>
            <a:pPr>
              <a:spcAft>
                <a:spcPts val="800"/>
              </a:spcAft>
              <a:defRPr sz="1300">
                <a:solidFill>
                  <a:srgbClr val="F1F5F9"/>
                </a:solidFill>
                <a:latin typeface="Arial"/>
              </a:defRPr>
            </a:pPr>
            <a:r>
              <a:t>•  Glycemic Variability: CV% = 28.4% (well below the clinical instability threshold of 36%).</a:t>
            </a:r>
          </a:p>
          <a:p>
            <a:pPr>
              <a:spcAft>
                <a:spcPts val="800"/>
              </a:spcAft>
              <a:defRPr sz="1300">
                <a:solidFill>
                  <a:srgbClr val="F1F5F9"/>
                </a:solidFill>
                <a:latin typeface="Arial"/>
              </a:defRPr>
            </a:pPr>
            <a:r>
              <a:t>•  Time-in-Range (TIR): In-Range 70-180 mg/dL (78.0%), TAR High (19.5%), TBR Low (2.5%).</a:t>
            </a:r>
          </a:p>
          <a:p>
            <a:pPr>
              <a:spcAft>
                <a:spcPts val="800"/>
              </a:spcAft>
              <a:defRPr sz="1300">
                <a:solidFill>
                  <a:srgbClr val="F1F5F9"/>
                </a:solidFill>
                <a:latin typeface="Arial"/>
              </a:defRPr>
            </a:pPr>
            <a:r>
              <a:t>•  Evidence-Based Directives: Automated clinical guidance notes and one-click hospital print/PDF export.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Rigorous Clinical Benchmark Validation</a:t>
            </a:r>
          </a:p>
          <a:p>
            <a:pPr>
              <a:defRPr sz="1300">
                <a:solidFill>
                  <a:srgbClr val="94A3B8"/>
                </a:solidFill>
                <a:latin typeface="Arial"/>
              </a:defRPr>
            </a:pPr>
            <a:r>
              <a:t>Evaluated Against International Diabetology Gold Standards</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Test Cohort: 1,200 multi-modal synthetic patient instances calibrated against ICMR-INDIAB epidemiological cohorts.</a:t>
            </a:r>
          </a:p>
          <a:p>
            <a:pPr>
              <a:spcAft>
                <a:spcPts val="800"/>
              </a:spcAft>
              <a:defRPr sz="1300">
                <a:solidFill>
                  <a:srgbClr val="F1F5F9"/>
                </a:solidFill>
                <a:latin typeface="Arial"/>
              </a:defRPr>
            </a:pPr>
            <a:r>
              <a:t>•  Clarke Error Grid (Zones A + B): 100.0% (Zone A: 99.0%, Zone B: 1.0%, Zone C/D/E: 0.0% — ZERO dangerous errors).</a:t>
            </a:r>
          </a:p>
          <a:p>
            <a:pPr>
              <a:spcAft>
                <a:spcPts val="800"/>
              </a:spcAft>
              <a:defRPr sz="1300">
                <a:solidFill>
                  <a:srgbClr val="F1F5F9"/>
                </a:solidFill>
                <a:latin typeface="Arial"/>
              </a:defRPr>
            </a:pPr>
            <a:r>
              <a:t>•  Mean Absolute Relative Difference (MARD): 1.28% (Exceeds the &lt; 10% clinical-grade sensor benchmark).</a:t>
            </a:r>
          </a:p>
          <a:p>
            <a:pPr>
              <a:spcAft>
                <a:spcPts val="800"/>
              </a:spcAft>
              <a:defRPr sz="1300">
                <a:solidFill>
                  <a:srgbClr val="F1F5F9"/>
                </a:solidFill>
                <a:latin typeface="Arial"/>
              </a:defRPr>
            </a:pPr>
            <a:r>
              <a:t>•  Trajectory Accuracy: Root Mean Squared Error (RMSE) = 1.97 mg/dL | Mean Absolute Error (MAE) = 1.44 mg/dL.</a:t>
            </a:r>
          </a:p>
          <a:p>
            <a:pPr>
              <a:spcAft>
                <a:spcPts val="800"/>
              </a:spcAft>
              <a:defRPr sz="1300">
                <a:solidFill>
                  <a:srgbClr val="F1F5F9"/>
                </a:solidFill>
                <a:latin typeface="Arial"/>
              </a:defRPr>
            </a:pPr>
            <a:r>
              <a:t>•  Adverse Event Classification: ROC-AUC = 1.000 for both Hyperglycemic Spike and Hypoglycemic Crash detection.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National Scalability &amp; ABDM Integration</a:t>
            </a:r>
          </a:p>
          <a:p>
            <a:pPr>
              <a:defRPr sz="1300">
                <a:solidFill>
                  <a:srgbClr val="94A3B8"/>
                </a:solidFill>
                <a:latin typeface="Arial"/>
              </a:defRPr>
            </a:pPr>
            <a:r>
              <a:t>Architected for Ayushman Bharat Digital Mission &amp; National Tele-ICU Networks</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ABHA Health ID Integration: Native linkage to Ayushman Bharat Health Account IDs for seamless patient registry.</a:t>
            </a:r>
          </a:p>
          <a:p>
            <a:pPr>
              <a:spcAft>
                <a:spcPts val="800"/>
              </a:spcAft>
              <a:defRPr sz="1300">
                <a:solidFill>
                  <a:srgbClr val="F1F5F9"/>
                </a:solidFill>
                <a:latin typeface="Arial"/>
              </a:defRPr>
            </a:pPr>
            <a:r>
              <a:t>•  HL7 FHIR Compliance: Interoperable diagnostic report bundles ready for national ABDM electronic health record exchange.</a:t>
            </a:r>
          </a:p>
          <a:p>
            <a:pPr>
              <a:spcAft>
                <a:spcPts val="800"/>
              </a:spcAft>
              <a:defRPr sz="1300">
                <a:solidFill>
                  <a:srgbClr val="F1F5F9"/>
                </a:solidFill>
                <a:latin typeface="Arial"/>
              </a:defRPr>
            </a:pPr>
            <a:r>
              <a:t>•  Primary Health Center (PHC) Deployment: Ultra-lightweight CPU execution (&lt;25ms) enables edge deployment on rural clinic laptops.</a:t>
            </a:r>
          </a:p>
          <a:p>
            <a:pPr>
              <a:spcAft>
                <a:spcPts val="800"/>
              </a:spcAft>
              <a:defRPr sz="1300">
                <a:solidFill>
                  <a:srgbClr val="F1F5F9"/>
                </a:solidFill>
                <a:latin typeface="Arial"/>
              </a:defRPr>
            </a:pPr>
            <a:r>
              <a:t>•  District Tele-ICU Hubs: Centralized triage dashboard enables a single endocrinologist to monitor thousands of district patients.</a:t>
            </a:r>
          </a:p>
          <a:p>
            <a:pPr>
              <a:spcAft>
                <a:spcPts val="800"/>
              </a:spcAft>
              <a:defRPr sz="1300">
                <a:solidFill>
                  <a:srgbClr val="F1F5F9"/>
                </a:solidFill>
                <a:latin typeface="Arial"/>
              </a:defRPr>
            </a:pPr>
            <a:r>
              <a:t>•  Data Privacy &amp; Security: Fully aligned with India's Digital Personal Data Protection (DPDP) Act 2023.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Transformative Healthcare Impact in India</a:t>
            </a:r>
          </a:p>
          <a:p>
            <a:pPr>
              <a:defRPr sz="1300">
                <a:solidFill>
                  <a:srgbClr val="94A3B8"/>
                </a:solidFill>
                <a:latin typeface="Arial"/>
              </a:defRPr>
            </a:pPr>
            <a:r>
              <a:t>Preventing Microvascular Complications and Protecting Indian Families</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Microvascular Prevention: Mitigates long-term diabetic retinopathy, nephropathy, and diabetic foot amputations.</a:t>
            </a:r>
          </a:p>
          <a:p>
            <a:pPr>
              <a:spcAft>
                <a:spcPts val="800"/>
              </a:spcAft>
              <a:defRPr sz="1300">
                <a:solidFill>
                  <a:srgbClr val="F1F5F9"/>
                </a:solidFill>
                <a:latin typeface="Arial"/>
              </a:defRPr>
            </a:pPr>
            <a:r>
              <a:t>•  Macrovascular Risk Reduction: Eliminates severe postprandial glycemic surges that trigger endothelial injury and MACE.</a:t>
            </a:r>
          </a:p>
          <a:p>
            <a:pPr>
              <a:spcAft>
                <a:spcPts val="800"/>
              </a:spcAft>
              <a:defRPr sz="1300">
                <a:solidFill>
                  <a:srgbClr val="F1F5F9"/>
                </a:solidFill>
                <a:latin typeface="Arial"/>
              </a:defRPr>
            </a:pPr>
            <a:r>
              <a:t>•  Reducing Emergency Hospitalizations: Proactively prevents nocturnal hypoglycemic comas and emergency ICU admissions.</a:t>
            </a:r>
          </a:p>
          <a:p>
            <a:pPr>
              <a:spcAft>
                <a:spcPts val="800"/>
              </a:spcAft>
              <a:defRPr sz="1300">
                <a:solidFill>
                  <a:srgbClr val="F1F5F9"/>
                </a:solidFill>
                <a:latin typeface="Arial"/>
              </a:defRPr>
            </a:pPr>
            <a:r>
              <a:t>•  Out-of-Pocket Cost Relief: Protects Indian families from catastrophic healthcare expenditures due to emergency diabetic crises.</a:t>
            </a:r>
          </a:p>
          <a:p>
            <a:pPr>
              <a:spcAft>
                <a:spcPts val="800"/>
              </a:spcAft>
              <a:defRPr sz="1300">
                <a:solidFill>
                  <a:srgbClr val="F1F5F9"/>
                </a:solidFill>
                <a:latin typeface="Arial"/>
              </a:defRPr>
            </a:pPr>
            <a:r>
              <a:t>•  Patient Health Literacy: Interactive organ twin avatar bridges language barriers and empowers proactive lifestyle choices.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F1D"/>
        </a:solidFill>
        <a:effectLst/>
      </p:bgPr>
    </p:bg>
    <p:spTree>
      <p:nvGrpSpPr>
        <p:cNvPr id="1" name=""/>
        <p:cNvGrpSpPr/>
        <p:nvPr/>
      </p:nvGrpSpPr>
      <p:grpSpPr/>
      <p:sp>
        <p:nvSpPr>
          <p:cNvPr id="2" name="TextBox 1"/>
          <p:cNvSpPr txBox="1"/>
          <p:nvPr/>
        </p:nvSpPr>
        <p:spPr>
          <a:xfrm>
            <a:off x="731520" y="365760"/>
            <a:ext cx="10698480" cy="1097280"/>
          </a:xfrm>
          <a:prstGeom prst="rect">
            <a:avLst/>
          </a:prstGeom>
          <a:noFill/>
        </p:spPr>
        <p:txBody>
          <a:bodyPr wrap="square">
            <a:spAutoFit/>
          </a:bodyPr>
          <a:lstStyle/>
          <a:p>
            <a:pPr>
              <a:defRPr sz="2600" b="1">
                <a:solidFill>
                  <a:srgbClr val="06B6D4"/>
                </a:solidFill>
                <a:latin typeface="Arial"/>
              </a:defRPr>
            </a:pPr>
            <a:r>
              <a:t>Summary, Team Coders_ABES &amp; Closing Pitch</a:t>
            </a:r>
          </a:p>
          <a:p>
            <a:pPr>
              <a:defRPr sz="1300">
                <a:solidFill>
                  <a:srgbClr val="94A3B8"/>
                </a:solidFill>
                <a:latin typeface="Arial"/>
              </a:defRPr>
            </a:pPr>
            <a:r>
              <a:t>Reimagining and Reforming Healthcare Through Proactive Digital Twins</a:t>
            </a:r>
          </a:p>
        </p:txBody>
      </p:sp>
      <p:sp>
        <p:nvSpPr>
          <p:cNvPr id="3" name="Rounded Rectangle 2"/>
          <p:cNvSpPr/>
          <p:nvPr/>
        </p:nvSpPr>
        <p:spPr>
          <a:xfrm>
            <a:off x="731520" y="1645920"/>
            <a:ext cx="10698480" cy="4663440"/>
          </a:xfrm>
          <a:prstGeom prst="roundRect">
            <a:avLst/>
          </a:prstGeom>
          <a:solidFill>
            <a:srgbClr val="1018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49840" cy="4297680"/>
          </a:xfrm>
          <a:prstGeom prst="rect">
            <a:avLst/>
          </a:prstGeom>
          <a:noFill/>
        </p:spPr>
        <p:txBody>
          <a:bodyPr wrap="square">
            <a:spAutoFit/>
          </a:bodyPr>
          <a:lstStyle/>
          <a:p>
            <a:pPr>
              <a:spcAft>
                <a:spcPts val="800"/>
              </a:spcAft>
              <a:defRPr sz="1300">
                <a:solidFill>
                  <a:srgbClr val="F1F5F9"/>
                </a:solidFill>
                <a:latin typeface="Arial"/>
              </a:defRPr>
            </a:pPr>
            <a:r>
              <a:t>•  Challenge Achievements: 100% Clarke Error Grid A+B, MARD 1.28%, 2-hour predictive horizon, interactive What-If sandbox.</a:t>
            </a:r>
          </a:p>
          <a:p>
            <a:pPr>
              <a:spcAft>
                <a:spcPts val="800"/>
              </a:spcAft>
              <a:defRPr sz="1300">
                <a:solidFill>
                  <a:srgbClr val="F1F5F9"/>
                </a:solidFill>
                <a:latin typeface="Arial"/>
              </a:defRPr>
            </a:pPr>
            <a:r>
              <a:t>•  Complete Deliverable Package: Modular FastAPI codebase, 1-click launcher, automated test suite, PPTX decks &amp; architecture diagrams.</a:t>
            </a:r>
          </a:p>
          <a:p>
            <a:pPr>
              <a:spcAft>
                <a:spcPts val="800"/>
              </a:spcAft>
              <a:defRPr sz="1300">
                <a:solidFill>
                  <a:srgbClr val="F1F5F9"/>
                </a:solidFill>
                <a:latin typeface="Arial"/>
              </a:defRPr>
            </a:pPr>
            <a:r>
              <a:t>•  Team Coders_ABES: Rohit Kumar, Arush Dixit, Anand Rai, Naman Goel — ABES Engineering College, Ghaziabad.</a:t>
            </a:r>
          </a:p>
          <a:p>
            <a:pPr>
              <a:spcAft>
                <a:spcPts val="800"/>
              </a:spcAft>
              <a:defRPr sz="1300">
                <a:solidFill>
                  <a:srgbClr val="F1F5F9"/>
                </a:solidFill>
                <a:latin typeface="Arial"/>
              </a:defRPr>
            </a:pPr>
            <a:r>
              <a:t>•  Official Submission: Happiest Health Reimagining &amp; Reforming Healthcare in India Summit 2026, Bengaluru.</a:t>
            </a:r>
          </a:p>
          <a:p>
            <a:pPr>
              <a:spcAft>
                <a:spcPts val="800"/>
              </a:spcAft>
              <a:defRPr sz="1300">
                <a:solidFill>
                  <a:srgbClr val="F1F5F9"/>
                </a:solidFill>
                <a:latin typeface="Arial"/>
              </a:defRPr>
            </a:pPr>
            <a:r>
              <a:t>•  Our Vision: Delivering predictive, personalized, and equitable digital health to 1.4 Billion citizens.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