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6B6D4"/>
                </a:solidFill>
                <a:latin typeface="Arial"/>
              </a:defRPr>
            </a:pPr>
            <a:r>
              <a:t>PRANA-TWIN System Architecture Diagram</a:t>
            </a:r>
          </a:p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Multi-Stream Data Fusion, Compartmental ODEs, Ensemble ML Predictors, and Doctor Decision Support UI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3291840" cy="4663440"/>
          </a:xfrm>
          <a:prstGeom prst="roundRect">
            <a:avLst/>
          </a:prstGeom>
          <a:solidFill>
            <a:srgbClr val="101830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2926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6B6D4"/>
                </a:solidFill>
                <a:latin typeface="Arial"/>
              </a:defRPr>
            </a:pPr>
            <a:r>
              <a:t>Layer 1: Multi-Stream Data Ingestion</a:t>
            </a:r>
          </a:p>
          <a:p>
            <a:pPr>
              <a:spcAft>
                <a:spcPts val="800"/>
              </a:spcAft>
              <a:defRPr sz="1100">
                <a:solidFill>
                  <a:srgbClr val="F1F5F9"/>
                </a:solidFill>
                <a:latin typeface="Arial"/>
              </a:defRPr>
            </a:pPr>
            <a:r>
              <a:t>▶  Static EHR Stream: Demographics, HbA1c (8.6%), eGFR, Lipids, Prescriptions</a:t>
            </a:r>
          </a:p>
          <a:p>
            <a:pPr>
              <a:spcAft>
                <a:spcPts val="800"/>
              </a:spcAft>
              <a:defRPr sz="1100">
                <a:solidFill>
                  <a:srgbClr val="F1F5F9"/>
                </a:solidFill>
                <a:latin typeface="Arial"/>
              </a:defRPr>
            </a:pPr>
            <a:r>
              <a:t>▶  Dynamic IoT Stream: 5-min CGM Glucose, PPG Pulse, HRV (RMSSD), Steps</a:t>
            </a:r>
          </a:p>
          <a:p>
            <a:pPr>
              <a:spcAft>
                <a:spcPts val="800"/>
              </a:spcAft>
              <a:defRPr sz="1100">
                <a:solidFill>
                  <a:srgbClr val="F1F5F9"/>
                </a:solidFill>
                <a:latin typeface="Arial"/>
              </a:defRPr>
            </a:pPr>
            <a:r>
              <a:t>▶  Indian Dietary Profile: High-GI staple meal carb bolus (Rice, Parathas, Sweets)</a:t>
            </a:r>
          </a:p>
          <a:p>
            <a:pPr>
              <a:spcAft>
                <a:spcPts val="800"/>
              </a:spcAft>
              <a:defRPr sz="1100">
                <a:solidFill>
                  <a:srgbClr val="F1F5F9"/>
                </a:solidFill>
                <a:latin typeface="Arial"/>
              </a:defRPr>
            </a:pPr>
            <a:r>
              <a:t>▶  Circadian Telemetry: Nighttime fasting epochs &amp; autonomic sleep staging</a:t>
            </a:r>
          </a:p>
          <a:p>
            <a:pPr>
              <a:spcAft>
                <a:spcPts val="800"/>
              </a:spcAft>
              <a:defRPr sz="1100">
                <a:solidFill>
                  <a:srgbClr val="F1F5F9"/>
                </a:solidFill>
                <a:latin typeface="Arial"/>
              </a:defRPr>
            </a:pPr>
            <a:r>
              <a:t>▶  Real-time Validation: Quality-checked telemetry streams ingested asynchronously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554480"/>
            <a:ext cx="3474720" cy="4663440"/>
          </a:xfrm>
          <a:prstGeom prst="roundRect">
            <a:avLst/>
          </a:prstGeom>
          <a:solidFill>
            <a:srgbClr val="101830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0" y="1737360"/>
            <a:ext cx="3108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6B6D4"/>
                </a:solidFill>
                <a:latin typeface="Arial"/>
              </a:defRPr>
            </a:pPr>
            <a:r>
              <a:t>Layer 2: Hybrid Digital Twin Core</a:t>
            </a:r>
          </a:p>
          <a:p>
            <a:pPr>
              <a:spcAft>
                <a:spcPts val="800"/>
              </a:spcAft>
              <a:defRPr sz="1100">
                <a:solidFill>
                  <a:srgbClr val="F1F5F9"/>
                </a:solidFill>
                <a:latin typeface="Arial"/>
              </a:defRPr>
            </a:pPr>
            <a:r>
              <a:t>▶  Physiological ODEs: Bergman Minimal Model (Plasma Glucose + Remote Insulin)</a:t>
            </a:r>
          </a:p>
          <a:p>
            <a:pPr>
              <a:spcAft>
                <a:spcPts val="800"/>
              </a:spcAft>
              <a:defRPr sz="1100">
                <a:solidFill>
                  <a:srgbClr val="F1F5F9"/>
                </a:solidFill>
                <a:latin typeface="Arial"/>
              </a:defRPr>
            </a:pPr>
            <a:r>
              <a:t>▶  Multimodal Feature Fusion: Temporal derivative extractor (dG/dt, d2G/dt2)</a:t>
            </a:r>
          </a:p>
          <a:p>
            <a:pPr>
              <a:spcAft>
                <a:spcPts val="800"/>
              </a:spcAft>
              <a:defRPr sz="1100">
                <a:solidFill>
                  <a:srgbClr val="F1F5F9"/>
                </a:solidFill>
                <a:latin typeface="Arial"/>
              </a:defRPr>
            </a:pPr>
            <a:r>
              <a:t>▶  Forward Horizon Regressor: Gradient Boosted 24-step trajectory (0-120 mins)</a:t>
            </a:r>
          </a:p>
          <a:p>
            <a:pPr>
              <a:spcAft>
                <a:spcPts val="800"/>
              </a:spcAft>
              <a:defRPr sz="1100">
                <a:solidFill>
                  <a:srgbClr val="F1F5F9"/>
                </a:solidFill>
                <a:latin typeface="Arial"/>
              </a:defRPr>
            </a:pPr>
            <a:r>
              <a:t>▶  Adverse Event Classifiers: Acute Spike (&gt;220 mg/dL) &amp; Nocturnal Hypo (&lt;70 mg/dL)</a:t>
            </a:r>
          </a:p>
          <a:p>
            <a:pPr>
              <a:spcAft>
                <a:spcPts val="800"/>
              </a:spcAft>
              <a:defRPr sz="1100">
                <a:solidFill>
                  <a:srgbClr val="F1F5F9"/>
                </a:solidFill>
                <a:latin typeface="Arial"/>
              </a:defRPr>
            </a:pPr>
            <a:r>
              <a:t>▶  Counterfactual Sandbox Engine: Instant simulation of Diet, Walk &amp; Meds</a:t>
            </a:r>
          </a:p>
          <a:p>
            <a:pPr>
              <a:spcAft>
                <a:spcPts val="800"/>
              </a:spcAft>
              <a:defRPr sz="1100">
                <a:solidFill>
                  <a:srgbClr val="F1F5F9"/>
                </a:solidFill>
                <a:latin typeface="Arial"/>
              </a:defRPr>
            </a:pPr>
            <a:r>
              <a:t>▶  Explainable AI (XAI): Dynamic attribution weights for clinical drivers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1554480"/>
            <a:ext cx="3291840" cy="4663440"/>
          </a:xfrm>
          <a:prstGeom prst="roundRect">
            <a:avLst/>
          </a:prstGeom>
          <a:solidFill>
            <a:srgbClr val="101830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0" y="1737360"/>
            <a:ext cx="2926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6B6D4"/>
                </a:solidFill>
                <a:latin typeface="Arial"/>
              </a:defRPr>
            </a:pPr>
            <a:r>
              <a:t>Layer 3: Clinical Decision Support UI</a:t>
            </a:r>
          </a:p>
          <a:p>
            <a:pPr>
              <a:spcAft>
                <a:spcPts val="800"/>
              </a:spcAft>
              <a:defRPr sz="1100">
                <a:solidFill>
                  <a:srgbClr val="F1F5F9"/>
                </a:solidFill>
                <a:latin typeface="Arial"/>
              </a:defRPr>
            </a:pPr>
            <a:r>
              <a:t>▶  Patient Triage Selector: Real-time risk status (Critical, High Risk, Moderate, Stable)</a:t>
            </a:r>
          </a:p>
          <a:p>
            <a:pPr>
              <a:spcAft>
                <a:spcPts val="800"/>
              </a:spcAft>
              <a:defRPr sz="1100">
                <a:solidFill>
                  <a:srgbClr val="F1F5F9"/>
                </a:solidFill>
                <a:latin typeface="Arial"/>
              </a:defRPr>
            </a:pPr>
            <a:r>
              <a:t>▶  Interactive Organ Twin: SVG avatar with glowing Pancreas, Heart, Kidneys, Liver</a:t>
            </a:r>
          </a:p>
          <a:p>
            <a:pPr>
              <a:spcAft>
                <a:spcPts val="800"/>
              </a:spcAft>
              <a:defRPr sz="1100">
                <a:solidFill>
                  <a:srgbClr val="F1F5F9"/>
                </a:solidFill>
                <a:latin typeface="Arial"/>
              </a:defRPr>
            </a:pPr>
            <a:r>
              <a:t>▶  2-Hour Predictive Chart: Horizon graph with 90% confidence bands &amp; thresholds</a:t>
            </a:r>
          </a:p>
          <a:p>
            <a:pPr>
              <a:spcAft>
                <a:spcPts val="800"/>
              </a:spcAft>
              <a:defRPr sz="1100">
                <a:solidFill>
                  <a:srgbClr val="F1F5F9"/>
                </a:solidFill>
                <a:latin typeface="Arial"/>
              </a:defRPr>
            </a:pPr>
            <a:r>
              <a:t>▶  Counterfactual Sliders: Dynamic carb titration, walking minutes, and medication</a:t>
            </a:r>
          </a:p>
          <a:p>
            <a:pPr>
              <a:spcAft>
                <a:spcPts val="800"/>
              </a:spcAft>
              <a:defRPr sz="1100">
                <a:solidFill>
                  <a:srgbClr val="F1F5F9"/>
                </a:solidFill>
                <a:latin typeface="Arial"/>
              </a:defRPr>
            </a:pPr>
            <a:r>
              <a:t>▶  RSSDI / ICMR Clinical Audit: Instant export of AGP metrics &amp; consultation notes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